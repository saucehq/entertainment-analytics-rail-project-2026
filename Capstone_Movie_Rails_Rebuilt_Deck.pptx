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4389120" cy="6858000"/>
          </a:xfrm>
          <a:prstGeom prst="rect">
            <a:avLst/>
          </a:prstGeom>
          <a:solidFill>
            <a:srgbClr val="0A0E14"/>
          </a:solidFill>
          <a:ln w="12700">
            <a:solidFill>
              <a:srgbClr val="0A0E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" y="1097280"/>
            <a:ext cx="64008" cy="3474720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PRESENTATION  · 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Rails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Film Discovery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Narrative DNA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41148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840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 Tonks   ·   Colton Wedell   ·   Alex Zermeno   ·   Alexxis Saucedo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280160"/>
            <a:ext cx="374904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0" y="1280160"/>
            <a:ext cx="3749040" cy="45720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13716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8K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046720" y="20848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2926080"/>
            <a:ext cx="374904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2926080"/>
            <a:ext cx="374904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30175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1,016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046720" y="37307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0" y="4572000"/>
            <a:ext cx="374904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4572000"/>
            <a:ext cx="3749040" cy="45720"/>
          </a:xfrm>
          <a:prstGeom prst="rect">
            <a:avLst/>
          </a:prstGeom>
          <a:solidFill>
            <a:srgbClr val="39D0C4"/>
          </a:solidFill>
          <a:ln w="12700">
            <a:solidFill>
              <a:srgbClr val="39D0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0" y="46634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9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046720" y="53766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Recommendations Bury Niche and Cross-Cultural Films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5486400" cy="5166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63040"/>
            <a:ext cx="548640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276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49377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tags alone can't capture narrative complexity</a:t>
            </a:r>
            <a:endParaRPr lang="en-US" sz="15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Bollywood, East Asian &amp; arthouse films are under-surfaced</a:t>
            </a:r>
            <a:endParaRPr lang="en-US" sz="15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scores miss cross-cultural story relationships</a:t>
            </a:r>
            <a:endParaRPr lang="en-US" sz="15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can't discover what the algorithm can't see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486400" cy="5166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463040"/>
            <a:ext cx="5486400" cy="45720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6276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Opportunity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148840"/>
            <a:ext cx="49377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 tropes (scored 0–3) plus genre &amp; language features per film</a:t>
            </a:r>
            <a:endParaRPr lang="en-US" sz="15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 films spanning 3 major language regions</a:t>
            </a:r>
            <a:endParaRPr lang="en-US" sz="15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surfaces story DNA, not just metadata</a:t>
            </a:r>
            <a:endParaRPr lang="en-US" sz="15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 intelligent rails replace blunt genre buckets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5-Stage ML Pipeline Transforms 8,000 Films Into 125 Intelligent Rails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77824" y="1508760"/>
            <a:ext cx="1920240" cy="5074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1508760"/>
            <a:ext cx="1920240" cy="64008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87552" y="246888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 Segment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06424" y="3291840"/>
            <a:ext cx="146304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474720"/>
            <a:ext cx="17007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8K films</a:t>
            </a:r>
            <a:endParaRPr lang="en-US" sz="13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regions</a:t>
            </a:r>
            <a:endParaRPr lang="en-US" sz="13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1,016 features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16352" y="3845052"/>
            <a:ext cx="16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999232" y="1508760"/>
            <a:ext cx="1920240" cy="5074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99232" y="1508760"/>
            <a:ext cx="1920240" cy="640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99232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08960" y="246888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227832" y="3291840"/>
            <a:ext cx="146304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0" y="3474720"/>
            <a:ext cx="17007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→ 50D</a:t>
            </a:r>
            <a:endParaRPr lang="en-US" sz="13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→ 64D</a:t>
            </a:r>
            <a:endParaRPr lang="en-US" sz="13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stripped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845052"/>
            <a:ext cx="16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20640" y="1508760"/>
            <a:ext cx="1920240" cy="5074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08760"/>
            <a:ext cx="1920240" cy="64008"/>
          </a:xfrm>
          <a:prstGeom prst="rect">
            <a:avLst/>
          </a:prstGeom>
          <a:solidFill>
            <a:srgbClr val="39D0C4"/>
          </a:solidFill>
          <a:ln w="12700">
            <a:solidFill>
              <a:srgbClr val="39D0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39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30368" y="246888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349240" y="3291840"/>
            <a:ext cx="146304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30368" y="3474720"/>
            <a:ext cx="17007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</a:t>
            </a:r>
            <a:endParaRPr lang="en-US" sz="13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 Groups</a:t>
            </a:r>
            <a:endParaRPr lang="en-US" sz="13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2–29 per region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59168" y="3845052"/>
            <a:ext cx="16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242048" y="1508760"/>
            <a:ext cx="1920240" cy="5074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42048" y="1508760"/>
            <a:ext cx="192024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42048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51776" y="246888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470648" y="3291840"/>
            <a:ext cx="146304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51776" y="3474720"/>
            <a:ext cx="17007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3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30–150 per rail</a:t>
            </a:r>
            <a:endParaRPr lang="en-US" sz="13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 rails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180576" y="3845052"/>
            <a:ext cx="16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363456" y="1508760"/>
            <a:ext cx="1920240" cy="5074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363456" y="1508760"/>
            <a:ext cx="1920240" cy="6400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63456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473184" y="246888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&amp; Deploy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9592056" y="3291840"/>
            <a:ext cx="146304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473184" y="3474720"/>
            <a:ext cx="17007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</a:t>
            </a:r>
            <a:endParaRPr lang="en-US" sz="13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unique names</a:t>
            </a:r>
            <a:endParaRPr lang="en-US" sz="13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Soulmates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01 · DATA FOUNDATION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 Tropes Scored 0–3 Plus Genre &amp; Language Capture Story DNA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352044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54480"/>
            <a:ext cx="3520440" cy="45720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1907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Films in corpus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54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Scraped from IMDB with full metadata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9120" y="1554480"/>
            <a:ext cx="352044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1554480"/>
            <a:ext cx="352044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171907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1,016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389120" y="23317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Trope features (scored 0–3, 4 dummy levels each)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3154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 tropes × 4 levels + 22 genres + 2 appended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75320" y="1554480"/>
            <a:ext cx="352044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75320" y="1554480"/>
            <a:ext cx="3520440" cy="45720"/>
          </a:xfrm>
          <a:prstGeom prst="rect">
            <a:avLst/>
          </a:prstGeom>
          <a:solidFill>
            <a:srgbClr val="39D0C4"/>
          </a:solidFill>
          <a:ln w="12700">
            <a:solidFill>
              <a:srgbClr val="39D0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71907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9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8275320" y="23317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super-regions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58200" y="3154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Bollywood · East Asian · Global / Other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3749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BREAKDOWN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41148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Bollywood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4165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· Tamil · Telugu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017520" y="4160520"/>
            <a:ext cx="8412480" cy="2743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17520" y="4160520"/>
            <a:ext cx="252374" cy="274320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1334" y="41239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48463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Asian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51480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· Korean · Cantonese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017520" y="4892040"/>
            <a:ext cx="8412480" cy="2743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17520" y="4892040"/>
            <a:ext cx="672998" cy="2743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81958" y="485546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55778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/ Other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2920" y="5879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+ all remaining languages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017520" y="5623560"/>
            <a:ext cx="8412480" cy="2743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17520" y="5623560"/>
            <a:ext cx="7487107" cy="274320"/>
          </a:xfrm>
          <a:prstGeom prst="rect">
            <a:avLst/>
          </a:prstGeom>
          <a:solidFill>
            <a:srgbClr val="39D0C4"/>
          </a:solidFill>
          <a:ln w="12700">
            <a:solidFill>
              <a:srgbClr val="39D0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96067" y="558698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02–03 · COMPRESSION &amp; CLUSTERING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Strips Noise to 50D; UMAP Reshapes to 64D; HDBSCAN Finds Story Groups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41148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45920"/>
            <a:ext cx="64008" cy="1005840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373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1,016D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31720" y="267004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971800"/>
            <a:ext cx="41148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971800"/>
            <a:ext cx="64008" cy="10058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063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50D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31520" y="3566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SVD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31720" y="39959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4297680"/>
            <a:ext cx="41148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4297680"/>
            <a:ext cx="64008" cy="1005840"/>
          </a:xfrm>
          <a:prstGeom prst="rect">
            <a:avLst/>
          </a:prstGeom>
          <a:solidFill>
            <a:srgbClr val="39D0C4"/>
          </a:solidFill>
          <a:ln w="12700">
            <a:solidFill>
              <a:srgbClr val="39D0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3891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64D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31520" y="4892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UMAP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5715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SVD components strip noise; UMAP expands to 64D for density clustering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74920" y="1554480"/>
            <a:ext cx="0" cy="484632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1554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  ·  Soul Groups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49240" y="2103120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15000" y="210312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preset k — discovers natural cluster shapes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349240" y="2487168"/>
            <a:ext cx="64922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2852928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15000" y="285292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2–29 soul groups per geo segment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349240" y="3236976"/>
            <a:ext cx="64922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9240" y="3602736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15000" y="3602736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min_cluster_size = 30 enforces meaningful groups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349240" y="3986784"/>
            <a:ext cx="64922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9240" y="4352544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15000" y="4352544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points (label = –1) recovered in secondary pass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5349240" y="4736592"/>
            <a:ext cx="64922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49240" y="5102352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715000" y="510235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~3% of films fall into sub-threshold niche rails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04–05  ·  OPTIMIZATION, NAMING &amp; DISCOVERY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Builds the Rails · LLaMA Names Them · Soulmates Bridges Cultures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749040" cy="5285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374904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7276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02920" y="22494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Rails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2596896"/>
            <a:ext cx="32004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974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(Constrained)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090672"/>
            <a:ext cx="32918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380000"/>
              </a:lnSpc>
              <a:buSzPct val="100000"/>
              <a:buChar char="•"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swept per Soul Group for best fit</a:t>
            </a:r>
            <a:endParaRPr lang="en-US" sz="1250" dirty="0"/>
          </a:p>
          <a:p>
            <a:pPr marL="342900" indent="-342900">
              <a:lnSpc>
                <a:spcPct val="380000"/>
              </a:lnSpc>
              <a:buSzPct val="100000"/>
              <a:buChar char="•"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constraint: 30–150 films per rail</a:t>
            </a:r>
            <a:endParaRPr lang="en-US" sz="1250" dirty="0"/>
          </a:p>
          <a:p>
            <a:pPr marL="342900" indent="-342900">
              <a:lnSpc>
                <a:spcPct val="380000"/>
              </a:lnSpc>
              <a:buSzPct val="100000"/>
              <a:buChar char="•"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selected by highest silhouette score</a:t>
            </a:r>
            <a:endParaRPr lang="en-US" sz="1250" dirty="0"/>
          </a:p>
          <a:p>
            <a:pPr marL="342900" indent="-342900">
              <a:lnSpc>
                <a:spcPct val="380000"/>
              </a:lnSpc>
              <a:buSzPct val="100000"/>
              <a:buChar char="•"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78.4% of rails meet minimum size</a:t>
            </a:r>
            <a:endParaRPr lang="en-US" sz="1250" dirty="0"/>
          </a:p>
          <a:p>
            <a:pPr marL="342900" indent="-342900">
              <a:lnSpc>
                <a:spcPct val="380000"/>
              </a:lnSpc>
              <a:buSzPct val="100000"/>
              <a:buChar char="•"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 total rails across all regions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43400" y="1417320"/>
            <a:ext cx="3749040" cy="5285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1417320"/>
            <a:ext cx="3749040" cy="64008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157276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343400" y="22494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Names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2596896"/>
            <a:ext cx="32004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26974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Labeling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0" y="3090672"/>
            <a:ext cx="32918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380000"/>
              </a:lnSpc>
              <a:buSzPct val="100000"/>
              <a:buChar char="•"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top-20 defining tropes per rail</a:t>
            </a:r>
            <a:endParaRPr lang="en-US" sz="1250" dirty="0"/>
          </a:p>
          <a:p>
            <a:pPr marL="342900" indent="-342900">
              <a:lnSpc>
                <a:spcPct val="380000"/>
              </a:lnSpc>
              <a:buSzPct val="100000"/>
              <a:buChar char="•"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mean release year + sample titles</a:t>
            </a:r>
            <a:endParaRPr lang="en-US" sz="1250" dirty="0"/>
          </a:p>
          <a:p>
            <a:pPr marL="342900" indent="-342900">
              <a:lnSpc>
                <a:spcPct val="380000"/>
              </a:lnSpc>
              <a:buSzPct val="100000"/>
              <a:buChar char="•"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archetype name + description</a:t>
            </a:r>
            <a:endParaRPr lang="en-US" sz="1250" dirty="0"/>
          </a:p>
          <a:p>
            <a:pPr marL="342900" indent="-342900">
              <a:lnSpc>
                <a:spcPct val="380000"/>
              </a:lnSpc>
              <a:buSzPct val="100000"/>
              <a:buChar char="•"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unique rail names generated</a:t>
            </a:r>
            <a:endParaRPr lang="en-US" sz="1250" dirty="0"/>
          </a:p>
          <a:p>
            <a:pPr marL="342900" indent="-342900">
              <a:lnSpc>
                <a:spcPct val="380000"/>
              </a:lnSpc>
              <a:buSzPct val="100000"/>
              <a:buChar char="•"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are human-readable, not IDs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83880" y="1417320"/>
            <a:ext cx="3749040" cy="5285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83880" y="1417320"/>
            <a:ext cx="3749040" cy="64008"/>
          </a:xfrm>
          <a:prstGeom prst="rect">
            <a:avLst/>
          </a:prstGeom>
          <a:solidFill>
            <a:srgbClr val="39D0C4"/>
          </a:solidFill>
          <a:ln w="12700">
            <a:solidFill>
              <a:srgbClr val="39D0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83880" y="157276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9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8183880" y="22494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Cross-Regional Links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458200" y="2596896"/>
            <a:ext cx="32004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26974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Soulmates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12480" y="3090672"/>
            <a:ext cx="32918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380000"/>
              </a:lnSpc>
              <a:buSzPct val="100000"/>
              <a:buChar char="•"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cross-regional centroids computed</a:t>
            </a:r>
            <a:endParaRPr lang="en-US" sz="1250" dirty="0"/>
          </a:p>
          <a:p>
            <a:pPr marL="342900" indent="-342900">
              <a:lnSpc>
                <a:spcPct val="380000"/>
              </a:lnSpc>
              <a:buSzPct val="100000"/>
              <a:buChar char="•"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distance &lt; 0.75 = a match</a:t>
            </a:r>
            <a:endParaRPr lang="en-US" sz="1250" dirty="0"/>
          </a:p>
          <a:p>
            <a:pPr marL="342900" indent="-342900">
              <a:lnSpc>
                <a:spcPct val="380000"/>
              </a:lnSpc>
              <a:buSzPct val="100000"/>
              <a:buChar char="•"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shared narrative DNA globally</a:t>
            </a:r>
            <a:endParaRPr lang="en-US" sz="1250" dirty="0"/>
          </a:p>
          <a:p>
            <a:pPr marL="342900" indent="-342900">
              <a:lnSpc>
                <a:spcPct val="380000"/>
              </a:lnSpc>
              <a:buSzPct val="100000"/>
              <a:buChar char="•"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Bollywood ↔ Hollywood noir</a:t>
            </a:r>
            <a:endParaRPr lang="en-US" sz="1250" dirty="0"/>
          </a:p>
          <a:p>
            <a:pPr marL="342900" indent="-342900">
              <a:lnSpc>
                <a:spcPct val="380000"/>
              </a:lnSpc>
              <a:buSzPct val="100000"/>
              <a:buChar char="•"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cross-cultural recommendations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 Named Rails Surface Films No Genre Tag Can Find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3657600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08760"/>
            <a:ext cx="3657600" cy="54864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7335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502920" y="2715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rails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30998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 language regions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07408" y="1508760"/>
            <a:ext cx="3657600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07408" y="1508760"/>
            <a:ext cx="36576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07408" y="167335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4407408" y="2715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archetype names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07408" y="30998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LLM-generated, human-readable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11896" y="1508760"/>
            <a:ext cx="3657600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11896" y="1508760"/>
            <a:ext cx="3657600" cy="54864"/>
          </a:xfrm>
          <a:prstGeom prst="rect">
            <a:avLst/>
          </a:prstGeom>
          <a:solidFill>
            <a:srgbClr val="39D0C4"/>
          </a:solidFill>
          <a:ln w="12700">
            <a:solidFill>
              <a:srgbClr val="39D0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11896" y="167335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39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78.4%</a:t>
            </a:r>
            <a:endParaRPr lang="en-US" sz="5000" dirty="0"/>
          </a:p>
        </p:txBody>
      </p:sp>
      <p:sp>
        <p:nvSpPr>
          <p:cNvPr id="19" name="Text 17"/>
          <p:cNvSpPr/>
          <p:nvPr/>
        </p:nvSpPr>
        <p:spPr>
          <a:xfrm>
            <a:off x="8311896" y="2715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Rails meet size floor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11896" y="30998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30–150 films per rail enforced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041648"/>
            <a:ext cx="3657600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041648"/>
            <a:ext cx="36576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2062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3.1%</a:t>
            </a:r>
            <a:endParaRPr lang="en-US" sz="5000" dirty="0"/>
          </a:p>
        </p:txBody>
      </p:sp>
      <p:sp>
        <p:nvSpPr>
          <p:cNvPr id="24" name="Text 22"/>
          <p:cNvSpPr/>
          <p:nvPr/>
        </p:nvSpPr>
        <p:spPr>
          <a:xfrm>
            <a:off x="502920" y="52486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Films in niche rails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2920" y="56327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rails below 30-film size floor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07408" y="4041648"/>
            <a:ext cx="3657600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07408" y="4041648"/>
            <a:ext cx="3657600" cy="5486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07408" y="42062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5000" dirty="0"/>
          </a:p>
        </p:txBody>
      </p:sp>
      <p:sp>
        <p:nvSpPr>
          <p:cNvPr id="29" name="Text 27"/>
          <p:cNvSpPr/>
          <p:nvPr/>
        </p:nvSpPr>
        <p:spPr>
          <a:xfrm>
            <a:off x="4407408" y="52486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Cross-cultural bridges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407408" y="56327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Soulmates across language divides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311896" y="4041648"/>
            <a:ext cx="3657600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11896" y="4041648"/>
            <a:ext cx="3657600" cy="54864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11896" y="42062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64D</a:t>
            </a:r>
            <a:endParaRPr lang="en-US" sz="5000" dirty="0"/>
          </a:p>
        </p:txBody>
      </p:sp>
      <p:sp>
        <p:nvSpPr>
          <p:cNvPr id="34" name="Text 32"/>
          <p:cNvSpPr/>
          <p:nvPr/>
        </p:nvSpPr>
        <p:spPr>
          <a:xfrm>
            <a:off x="8311896" y="52486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space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311896" y="56327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+ UMAP compressed narrative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A0E14"/>
          </a:solidFill>
          <a:ln w="12700">
            <a:solidFill>
              <a:srgbClr val="0A0E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00" cy="640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SPOTLIGHT 01  ·  S1_Other_0_N3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6400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Sci-Fi Adventures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920240"/>
            <a:ext cx="2011680" cy="457200"/>
          </a:xfrm>
          <a:prstGeom prst="rect">
            <a:avLst/>
          </a:prstGeom>
          <a:solidFill>
            <a:srgbClr val="E07B39">
              <a:alpha val="20000"/>
            </a:srgbClr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385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 hard-assigned films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514600"/>
            <a:ext cx="466344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65176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Interstellar battles, alien worlds, and humanity pushed to its limits. Blockbuster epics united by grand-scale sci-fi world-building — Star Wars to Dune.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97764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FILMS FROM RAIL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4297680"/>
            <a:ext cx="54864" cy="2560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2793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Wars: Ep. IV (1977)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" y="4736592"/>
            <a:ext cx="54864" cy="2560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71830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Trek: TMP (1979)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" y="5175504"/>
            <a:ext cx="54864" cy="2560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515721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 Beyond the Stars (1980)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11480" y="5614416"/>
            <a:ext cx="54864" cy="2560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55961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 (1982)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11480" y="6053328"/>
            <a:ext cx="54864" cy="2560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60350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Dune (1984)</a:t>
            </a:r>
            <a:endParaRPr lang="en-US" sz="1250" dirty="0"/>
          </a:p>
        </p:txBody>
      </p:sp>
      <p:pic>
        <p:nvPicPr>
          <p:cNvPr id="22" name="Image 0" descr="/sessions/trusting-keen-tesla/pptx_unpacked/ppt/media/poster_scif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64008"/>
            <a:ext cx="6629400" cy="67391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A0E14"/>
          </a:solidFill>
          <a:ln w="12700">
            <a:solidFill>
              <a:srgbClr val="0A0E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0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SPOTLIGHT 02  ·  S2_Other_0_N1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6400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Animated Family Favorites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920240"/>
            <a:ext cx="2011680" cy="457200"/>
          </a:xfrm>
          <a:prstGeom prst="rect">
            <a:avLst/>
          </a:prstGeom>
          <a:solidFill>
            <a:srgbClr val="52B788">
              <a:alpha val="2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385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hard-assigned films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514600"/>
            <a:ext cx="466344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65176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animated classics and family adventures. From Disney fairy tales to modern superhero animations — Snow White to Spider-Verse.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97764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FILMS FROM RAIL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4297680"/>
            <a:ext cx="54864" cy="2560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2793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 White (1937)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" y="4736592"/>
            <a:ext cx="54864" cy="2560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71830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Lady and the Tramp (1955)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" y="5175504"/>
            <a:ext cx="54864" cy="2560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515721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Jungle Book (1967)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11480" y="5614416"/>
            <a:ext cx="54864" cy="2560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55961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Robin Hood (1973)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11480" y="6053328"/>
            <a:ext cx="54864" cy="2560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60350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Little Mermaid (1989)</a:t>
            </a:r>
            <a:endParaRPr lang="en-US" sz="1250" dirty="0"/>
          </a:p>
        </p:txBody>
      </p:sp>
      <p:pic>
        <p:nvPicPr>
          <p:cNvPr id="22" name="Image 0" descr="/sessions/trusting-keen-tesla/pptx_unpacked/ppt/media/poster_anim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64008"/>
            <a:ext cx="6629400" cy="67391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A0E14"/>
          </a:solidFill>
          <a:ln w="12700">
            <a:solidFill>
              <a:srgbClr val="0A0E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00" cy="64008"/>
          </a:xfrm>
          <a:prstGeom prst="rect">
            <a:avLst/>
          </a:prstGeom>
          <a:solidFill>
            <a:srgbClr val="6D6875"/>
          </a:solidFill>
          <a:ln w="12700">
            <a:solidFill>
              <a:srgbClr val="6D68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D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SPOTLIGHT 03  ·  S7_Other_0_N0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6400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Noir Classics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920240"/>
            <a:ext cx="2011680" cy="457200"/>
          </a:xfrm>
          <a:prstGeom prst="rect">
            <a:avLst/>
          </a:prstGeom>
          <a:solidFill>
            <a:srgbClr val="6D6875">
              <a:alpha val="20000"/>
            </a:srgbClr>
          </a:solidFill>
          <a:ln w="12700">
            <a:solidFill>
              <a:srgbClr val="6D68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385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 hard-assigned films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514600"/>
            <a:ext cx="466344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65176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Shadowy detectives, moral ambiguity, and twist-laden crime. These films trade in deception and atmosphere — 1940s Chandler to contemporary whodunits.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97764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FILMS FROM RAIL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4297680"/>
            <a:ext cx="54864" cy="256032"/>
          </a:xfrm>
          <a:prstGeom prst="rect">
            <a:avLst/>
          </a:prstGeom>
          <a:solidFill>
            <a:srgbClr val="6D6875"/>
          </a:solidFill>
          <a:ln w="12700">
            <a:solidFill>
              <a:srgbClr val="6D68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2793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Bat (1926)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" y="4736592"/>
            <a:ext cx="54864" cy="256032"/>
          </a:xfrm>
          <a:prstGeom prst="rect">
            <a:avLst/>
          </a:prstGeom>
          <a:solidFill>
            <a:srgbClr val="6D6875"/>
          </a:solidFill>
          <a:ln w="12700">
            <a:solidFill>
              <a:srgbClr val="6D68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71830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Murder, My Sweet (1944)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" y="5175504"/>
            <a:ext cx="54864" cy="256032"/>
          </a:xfrm>
          <a:prstGeom prst="rect">
            <a:avLst/>
          </a:prstGeom>
          <a:solidFill>
            <a:srgbClr val="6D6875"/>
          </a:solidFill>
          <a:ln w="12700">
            <a:solidFill>
              <a:srgbClr val="6D68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515721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Dahlia (1946)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11480" y="5614416"/>
            <a:ext cx="54864" cy="256032"/>
          </a:xfrm>
          <a:prstGeom prst="rect">
            <a:avLst/>
          </a:prstGeom>
          <a:solidFill>
            <a:srgbClr val="6D6875"/>
          </a:solidFill>
          <a:ln w="12700">
            <a:solidFill>
              <a:srgbClr val="6D68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55961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 M for Murder (1954)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11480" y="6053328"/>
            <a:ext cx="54864" cy="256032"/>
          </a:xfrm>
          <a:prstGeom prst="rect">
            <a:avLst/>
          </a:prstGeom>
          <a:solidFill>
            <a:srgbClr val="6D6875"/>
          </a:solidFill>
          <a:ln w="12700">
            <a:solidFill>
              <a:srgbClr val="6D68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60350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Invisible Guest (2016)</a:t>
            </a:r>
            <a:endParaRPr lang="en-US" sz="1250" dirty="0"/>
          </a:p>
        </p:txBody>
      </p:sp>
      <p:pic>
        <p:nvPicPr>
          <p:cNvPr id="22" name="Image 0" descr="/sessions/trusting-keen-tesla/pptx_unpacked/ppt/media/poster_noi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64008"/>
            <a:ext cx="6629400" cy="67391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A0E14"/>
          </a:solidFill>
          <a:ln w="12700">
            <a:solidFill>
              <a:srgbClr val="0A0E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00" cy="6400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SPOTLIGHT 04  ·  S1_Other_0_N4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6400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 Sci-Fi Horror Classics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920240"/>
            <a:ext cx="2011680" cy="457200"/>
          </a:xfrm>
          <a:prstGeom prst="rect">
            <a:avLst/>
          </a:prstGeom>
          <a:solidFill>
            <a:srgbClr val="457B9D">
              <a:alpha val="20000"/>
            </a:srgbClr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385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 hard-assigned films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514600"/>
            <a:ext cx="466344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65176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Mind-bending sci-fi and retro horror where science goes wrong. Twisted timelines, dystopian societies, and creatures from the unknown.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97764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FILMS FROM RAIL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4297680"/>
            <a:ext cx="54864" cy="256032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2793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They Couldn't Hang (1939)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" y="4736592"/>
            <a:ext cx="54864" cy="256032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71830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of the Damned (1964)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" y="5175504"/>
            <a:ext cx="54864" cy="256032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515721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 of the Apes (1968)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11480" y="5614416"/>
            <a:ext cx="54864" cy="256032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55961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the Dead (1985)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11480" y="6053328"/>
            <a:ext cx="54864" cy="256032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60350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Re-Animator (1985)</a:t>
            </a:r>
            <a:endParaRPr lang="en-US" sz="1250" dirty="0"/>
          </a:p>
        </p:txBody>
      </p:sp>
      <p:pic>
        <p:nvPicPr>
          <p:cNvPr id="22" name="Image 0" descr="/sessions/trusting-keen-tesla/pptx_unpacked/ppt/media/poster_ret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64008"/>
            <a:ext cx="6629400" cy="67391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"/>
            <a:ext cx="7040880" cy="6766560"/>
          </a:xfrm>
          <a:prstGeom prst="rect">
            <a:avLst/>
          </a:prstGeom>
          <a:solidFill>
            <a:srgbClr val="0A0E14"/>
          </a:solidFill>
          <a:ln w="12700">
            <a:solidFill>
              <a:srgbClr val="0A0E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38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DNA Unlocks Discovery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Metadata Alone Cannot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2331720"/>
            <a:ext cx="612648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487168"/>
            <a:ext cx="6126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 tropes scored 0–3 capture story nuance genre tags miss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 + K-Means produce organic, human-curated-feeling rails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naming makes clusters interpretable to end users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Soulmates bridge Bollywood, East Asian &amp; Western narratives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 rails now power horizontally scrollable personalized discovery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0" y="4754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0" y="868680"/>
            <a:ext cx="4572000" cy="12618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868680"/>
            <a:ext cx="64008" cy="1261872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9601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8K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7543800" y="17099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0" y="2313432"/>
            <a:ext cx="4572000" cy="12618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0" y="2313432"/>
            <a:ext cx="64008" cy="126187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43800" y="240487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7543800" y="31546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0" y="3758184"/>
            <a:ext cx="4572000" cy="12618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3758184"/>
            <a:ext cx="64008" cy="1261872"/>
          </a:xfrm>
          <a:prstGeom prst="rect">
            <a:avLst/>
          </a:prstGeom>
          <a:solidFill>
            <a:srgbClr val="39D0C4"/>
          </a:solidFill>
          <a:ln w="12700">
            <a:solidFill>
              <a:srgbClr val="39D0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43800" y="3849624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9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7543800" y="45994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Archetypes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0" y="5202936"/>
            <a:ext cx="4572000" cy="12618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0" y="5202936"/>
            <a:ext cx="64008" cy="12618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43800" y="5294376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7543800" y="604418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Soulmate Bridges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65653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 Tonks · Colton Wedell · Alex Zermeno · Alexxis Saucedo  · 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Rails: Personalized Film Discovery Through Narrative DNA</dc:title>
  <dc:subject>PptxGenJS Presentation</dc:subject>
  <dc:creator>PptxGenJS</dc:creator>
  <cp:lastModifiedBy>PptxGenJS</cp:lastModifiedBy>
  <cp:revision>1</cp:revision>
  <dcterms:created xsi:type="dcterms:W3CDTF">2026-03-06T17:24:37Z</dcterms:created>
  <dcterms:modified xsi:type="dcterms:W3CDTF">2026-03-06T17:24:37Z</dcterms:modified>
</cp:coreProperties>
</file>